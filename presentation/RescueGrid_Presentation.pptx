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SEARCH &amp; RESCUE DECISION SUPPORT</a:t>
            </a:r>
          </a:p>
          <a:p>
            <a:pPr>
              <a:spcAft>
                <a:spcPts val="1400"/>
              </a:spcAft>
              <a:defRPr sz="4600" b="1">
                <a:solidFill>
                  <a:srgbClr val="0F172A"/>
                </a:solidFill>
                <a:latin typeface="Segoe UI"/>
              </a:defRPr>
            </a:pPr>
            <a:r>
              <a:t>RescueGrid</a:t>
            </a:r>
          </a:p>
          <a:p>
            <a:pPr>
              <a:spcAft>
                <a:spcPts val="28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An explainable, offline-first decision intelligence platform that turns scattered clues into prioritized search missions during the critical first 72 hours of a natural disaster.</a:t>
            </a:r>
          </a:p>
          <a:p>
            <a:pPr>
              <a:defRPr sz="1300" b="1">
                <a:solidFill>
                  <a:srgbClr val="2563EB"/>
                </a:solidFill>
                <a:latin typeface="Segoe UI"/>
              </a:defRPr>
            </a:pPr>
            <a:r>
              <a:t>✓ Offline-First (IndexedDB)    ✓ Explainable 5-Factor Scoring    ✓ Contradiction Detection    ✓ Human-in-the-Loop Safe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01 / THE PROBLEM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What Happens in the First 72 Hours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In earthquakes, landslides, and flash floods, response teams face severe operational failure modes.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C2626"/>
                </a:solidFill>
                <a:latin typeface="Segoe UI"/>
              </a:defRPr>
            </a:pPr>
            <a:r>
              <a:t>The Critical 72h Window</a:t>
            </a:r>
          </a:p>
          <a:p>
            <a:pPr>
              <a:spcAft>
                <a:spcPts val="24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Survival probability drops drastically with every hour trapped under rubble or mud deposits. Responders cannot afford to waste time searching unpopulated or low-probability sectors.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Key takeaway: Time is the limiting constraint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97706"/>
                </a:solidFill>
                <a:latin typeface="Segoe UI"/>
              </a:defRPr>
            </a:pPr>
            <a:r>
              <a:t>Complete Network Outages</a:t>
            </a:r>
          </a:p>
          <a:p>
            <a:pPr>
              <a:spcAft>
                <a:spcPts val="24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Cell towers collapse, power lines sever, and roads are cut off. Cloud-only dashboards, online APIs, and remote databases fail at the exact moment coordinators need them.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Key takeaway: Must operate 100% offline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The Information Fog</a:t>
            </a:r>
          </a:p>
          <a:p>
            <a:pPr>
              <a:spcAft>
                <a:spcPts val="24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Emergency call centers receive hundreds of duplicated reports, contradictory rumors, and delayed messages. Double-counting victims misdirects limited rescue personnel.</a:t>
            </a:r>
          </a:p>
          <a:p>
            <a:pPr>
              <a:defRPr sz="1100" b="1">
                <a:solidFill>
                  <a:srgbClr val="0F172A"/>
                </a:solidFill>
                <a:latin typeface="Segoe UI"/>
              </a:defRPr>
            </a:pPr>
            <a:r>
              <a:t>Key takeaway: Bad data leads to wrong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02 / THE CHALLENGE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Why Existing Software Fails on the Ground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Generic emergency dashboards were built for conference rooms, not disaster zones.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1. Double-Counting Trapped Victims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When 4 relatives and 2 neighbors report the same 3 trapped people, conventional tools sum them up to 18 victims. This diverts an entire battalion to a location that only needs a single squad.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96596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2. Contradictions Are Silently Hidden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If an evacuation team reports a school 'cleared' while a resident SMS reports 4 children trapped in the attic, standard databases overwrite the older record. The trapped children are forgotten.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79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3. Black-Box AI &amp; Hallucinations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Deep learning models give opaque probability scores without explaining why. Worse, LLMs may hallucinate exact GPS coordinates or falsely declare unsearched zones as 'safe'.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31920"/>
            <a:ext cx="525780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069079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4. Heavy Map Tile Dependencies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Most web mapping libraries crash or show blank grey screens when disconnected from OpenStreetMap or Google tile servers. Teams lose tactical awareness immediately.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03 / THE SOLUTION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RescueGrid: Core Architecture Pillars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Built from the ground up for zero-connectivity environments and explainable human decision-making.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1. Clue Fusion &amp; Deduplication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Extracts victim counts, acoustic signals, and battery status from text. Merges duplicate reports and flags contradictions loudly.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2. Explainable Prioritization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Ranks search sectors with an open 5-factor mathematical formula. Explains why a sector is ranked high and allows coordinator override.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6A34A"/>
                </a:solidFill>
                <a:latin typeface="Segoe UI"/>
              </a:defRPr>
            </a:pPr>
            <a:r>
              <a:t>3. Safe Capability Dispatch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Matches canine units to rubble and hydraulic cutters to concrete slabs. Enforces hazard-aware routing around blocked roads.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C2626"/>
                </a:solidFill>
                <a:latin typeface="Segoe UI"/>
              </a:defRPr>
            </a:pPr>
            <a:r>
              <a:t>4. Offline-First Operation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Stores the full dataset in browser IndexedDB. Field teams record clues offline and sync automatically upon reconnection.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04 / CLUE FUSION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Handling Messy, Duplicated &amp; Conflicting Clues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Transforming noisy raw text into verified situational intelligence without expensive APIs.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578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Duplicate Detection (Preventing Victim Inflation)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When multiple witnesses report the same victims, RescueGrid calculates spatial-semantic token similarity (Jaccard index &gt;= 0.35 within the same building footprint).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t>Report 1: '3 people trapped under quarter 2 roof'</a:t>
            </a:r>
            <a:br/>
            <a:r>
              <a:t>Report 2: 'Family of 3 at quarter 2 needs help'</a:t>
            </a:r>
          </a:p>
          <a:p>
            <a:pPr>
              <a:defRPr sz="1200" b="1">
                <a:solidFill>
                  <a:srgbClr val="16A34A"/>
                </a:solidFill>
                <a:latin typeface="Segoe UI"/>
              </a:defRPr>
            </a:pPr>
            <a:r>
              <a:t>✓ Result: Automatically linked as a duplicate. Corroborates evidence confidence without double-counting trapped headcounts.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2011680"/>
            <a:ext cx="4892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DC2626"/>
                </a:solidFill>
                <a:latin typeface="Segoe UI"/>
              </a:defRPr>
            </a:pPr>
            <a:r>
              <a:t>Contradiction Detection (Flagging Clashes)</a:t>
            </a:r>
          </a:p>
          <a:p>
            <a:pPr>
              <a:spcAft>
                <a:spcPts val="1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When reports for the same sector contain conflicting status claims (e.g., 'all evacuated' vs 'people trapped'), RescueGrid refuses to quietly overwrite.</a:t>
            </a:r>
          </a:p>
          <a:p>
            <a:pPr>
              <a:spcAft>
                <a:spcPts val="1400"/>
              </a:spcAft>
              <a:defRPr sz="1100">
                <a:solidFill>
                  <a:srgbClr val="0F172A"/>
                </a:solidFill>
                <a:latin typeface="Consolas"/>
              </a:defRPr>
            </a:pPr>
            <a:r>
              <a:t>Report A: 'All residents evacuated to temple'</a:t>
            </a:r>
            <a:br/>
            <a:r>
              <a:t>Report B: '4 people trapped in attic with low battery'</a:t>
            </a:r>
          </a:p>
          <a:p>
            <a:pPr>
              <a:defRPr sz="1200" b="1">
                <a:solidFill>
                  <a:srgbClr val="DC2626"/>
                </a:solidFill>
                <a:latin typeface="Segoe UI"/>
              </a:defRPr>
            </a:pPr>
            <a:r>
              <a:t>⚠️ Result: Flagged as High-Visibility Conflict. The incident commander is alerted to physically verify before lowering search priority.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05 / PRIORITIZATION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Transparent 5-Factor Scoring Formula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Zero black-box AI. Every priority score can be inspected, explained, and overridden by commanders.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Consolas"/>
              </a:defRPr>
            </a:pPr>
            <a:r>
              <a:t>Priority Score = (0.30 × Evidence) + (0.25 × Occupancy) + (0.25 × Urgency) + (0.15 × Recency) - (0.05 × Access Penalty)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2057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563EB"/>
                </a:solidFill>
                <a:latin typeface="Segoe UI"/>
              </a:defRPr>
            </a:pPr>
            <a:r>
              <a:t>Evidence Strength (30%)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Sensor signals (acoustic knock, thermal) and physical responder confirmations. Unverified rumors receive low weight.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2651760"/>
            <a:ext cx="2057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2788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6A34A"/>
                </a:solidFill>
                <a:latin typeface="Segoe UI"/>
              </a:defRPr>
            </a:pPr>
            <a:r>
              <a:t>Potential Occupancy (25%)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Verified headcounts, vulnerable populations (children, elderly), and medical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651760"/>
            <a:ext cx="2057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75504" y="2788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97706"/>
                </a:solidFill>
                <a:latin typeface="Segoe UI"/>
              </a:defRPr>
            </a:pPr>
            <a:r>
              <a:t>Threat Urgency (25%)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Active environmental hazards (mudflow advancing, secondary collapse risks, low phone battery).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651760"/>
            <a:ext cx="2057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51775" y="2788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334155"/>
                </a:solidFill>
                <a:latin typeface="Segoe UI"/>
              </a:defRPr>
            </a:pPr>
            <a:r>
              <a:t>Temporal Recency (15%)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Elapsed time since last confirmed contact. Does NOT assume trapped victims are deceased.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651760"/>
            <a:ext cx="20574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28048" y="278892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DC2626"/>
                </a:solidFill>
                <a:latin typeface="Segoe UI"/>
              </a:defRPr>
            </a:pPr>
            <a:r>
              <a:t>Access Penalty (-5%)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Impedance penalty reflecting blocked roads or bridge washouts requiring foot access.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69848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🛡️ Humanitarian Principle: An area with 0 reports is NEVER marked 'safe'. Coordinators can override any score with a logged reason.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06 / MISSION DISPATCH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Matching Skills &amp; Enforcing Route Safety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Never routes rescue personnel through active hazards merely to minimize travel time.</a:t>
            </a:r>
          </a:p>
        </p:txBody>
      </p:sp>
      <p:pic>
        <p:nvPicPr>
          <p:cNvPr id="4" name="Picture 3" descr="screenshot_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10725912" cy="6435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07 / OFFLINE ARCHITECTURE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Full Functionality with Zero Internet Connection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Tested and proven under simulated network failure conditions.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1. Browser Local Cache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The full incident database (zones, clues, missing persons, teams, roads) is cached locally in browser IndexedDB on initial load.</a:t>
            </a:r>
          </a:p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Zero network reads required for map viewing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2. Offline Mutation Queue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When field responders submit clues or register missing persons while disconnected, updates are stored in an IndexedDB queue and appear immediately in the UI.</a:t>
            </a:r>
          </a:p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Responders never lose submitted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3. Conflict-Free Sync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Upon reconnection, one click syncs all queued records via batch REST endpoints with timestamp validation. Newer command changes are never overwritten.</a:t>
            </a:r>
          </a:p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Automatic reconciliation in &lt; 1 second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4. Vector Grid Fallback</a:t>
            </a:r>
          </a:p>
          <a:p>
            <a:pPr>
              <a:spcAft>
                <a:spcPts val="20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If external OpenStreetMap tiles fail to load, RescueGrid switches seamlessly to an embedded SVG tactical vector grid showing all 20 building footprints.</a:t>
            </a:r>
          </a:p>
          <a:p>
            <a:pPr>
              <a:defRPr sz="1100" b="1">
                <a:solidFill>
                  <a:srgbClr val="16A34A"/>
                </a:solidFill>
                <a:latin typeface="Segoe UI"/>
              </a:defRPr>
            </a:pPr>
            <a:r>
              <a:t>✓ 100% visual awareness maintained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08 / PROTOTYPE WALKTHROUGH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Live Operational Cockpit &amp; Inspector Interface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Designed for zero vertical scrolling on field tablets and incident command laptops.</a:t>
            </a:r>
          </a:p>
        </p:txBody>
      </p:sp>
      <p:pic>
        <p:nvPicPr>
          <p:cNvPr id="4" name="Picture 3" descr="screenshot_cockp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725912" cy="64355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09 / TECHNICAL STACK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Realistic, Maintainable Open-Source Stack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Engineered for high reliability, instant responsiveness, and zero recurring cloud costs.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Frontend Application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• React 18 &amp; TypeScript (Type-safe UI)</a:t>
            </a:r>
            <a:br/>
            <a:r>
              <a:t>• Tailwind CSS (Fast, responsive styling)</a:t>
            </a:r>
            <a:br/>
            <a:r>
              <a:t>• Leaflet + SVG Tactical Fallback Map</a:t>
            </a:r>
            <a:br/>
            <a:r>
              <a:t>• Lucide Icons (Accessible UI elements)</a:t>
            </a:r>
            <a:br/>
            <a:r>
              <a:t>• Bundle size &lt; 350 KB for quick 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97706"/>
                </a:solidFill>
                <a:latin typeface="Segoe UI"/>
              </a:defRPr>
            </a:pPr>
            <a:r>
              <a:t>Client Storage &amp; Sync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• IndexedDB via 'idb' promise wrapper</a:t>
            </a:r>
            <a:br/>
            <a:r>
              <a:t>• Client-side mutation queue</a:t>
            </a:r>
            <a:br/>
            <a:r>
              <a:t>• Optimistic UI state updates</a:t>
            </a:r>
            <a:br/>
            <a:r>
              <a:t>• Network state listener &amp; simulator</a:t>
            </a:r>
            <a:br/>
            <a:r>
              <a:t>• Timestamp conflict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6A34A"/>
                </a:solidFill>
                <a:latin typeface="Segoe UI"/>
              </a:defRPr>
            </a:pPr>
            <a:r>
              <a:t>Backend &amp; AI Engine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• Python 3.10+ with FastAPI</a:t>
            </a:r>
            <a:br/>
            <a:r>
              <a:t>• Rule-based NLP entity extractor</a:t>
            </a:r>
            <a:br/>
            <a:r>
              <a:t>• Jaccard spatial deduplication</a:t>
            </a:r>
            <a:br/>
            <a:r>
              <a:t>• Explainable 5-factor scoring model</a:t>
            </a:r>
            <a:br/>
            <a:r>
              <a:t>• Capability-matching mission planner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011680"/>
            <a:ext cx="2286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Database &amp; Testing</a:t>
            </a:r>
          </a:p>
          <a:p>
            <a:pPr>
              <a:defRPr sz="1200">
                <a:solidFill>
                  <a:srgbClr val="334155"/>
                </a:solidFill>
                <a:latin typeface="Segoe UI"/>
              </a:defRPr>
            </a:pPr>
            <a:r>
              <a:t>• SQLite with WAL mode (high concurrency)</a:t>
            </a:r>
            <a:br/>
            <a:r>
              <a:t>• Foreign key constraints &amp; audit logging</a:t>
            </a:r>
            <a:br/>
            <a:r>
              <a:t>• 17 Automated Pytest backend tests</a:t>
            </a:r>
            <a:br/>
            <a:r>
              <a:t>• 100% test pass rate on all modules</a:t>
            </a:r>
            <a:br/>
            <a:r>
              <a:t>• Ready for Docker / edge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10 / DEMONSTRATION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Simulated Landslide Incident (Western Ghats)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A fully reproducible, multi-faceted disaster scenario with 20 structures and 14 clues.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Consolas"/>
              </a:defRPr>
            </a:pPr>
            <a:r>
              <a:t>20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Affected Buildings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Consolas"/>
              </a:defRPr>
            </a:pPr>
            <a:r>
              <a:t>14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Multi-Source Clues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Consolas"/>
              </a:defRPr>
            </a:pPr>
            <a:r>
              <a:t>3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Specialized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18288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97706"/>
                </a:solidFill>
                <a:latin typeface="Consolas"/>
              </a:defRPr>
            </a:pPr>
            <a:r>
              <a:t>3</a:t>
            </a:r>
          </a:p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t>Road Obstructions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6984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What We Demonstrate Live in 3 Minutes: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1. Real-Time Clue Ingestion: Submitting a new survivor clue and extracting headcounts and distress sounds in under 5ms.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2. Duplicate &amp; Conflict Resolution: Relative's phone call matches eyewitness report without inflating headcount; WhatsApp rumor triggers conflict alert.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3. Prioritization &amp; Rationale: Inspecting Zone Z-01 factor breakdown and overriding priority score with mandatory commander justification.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4. Safe Mission Dispatch: Approving NDRF Canine unit dispatch routed safely around active mudflows and collapsed bridges.</a:t>
            </a:r>
          </a:p>
          <a:p>
            <a:pPr>
              <a:spcAft>
                <a:spcPts val="4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5. Offline Resilience: Toggling into Offline Mode, recording clues in IndexedDB, and syncing cleanly once reconnected.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7706"/>
                </a:solidFill>
                <a:latin typeface="Segoe UI"/>
              </a:defRPr>
            </a:pPr>
            <a:r>
              <a:t>11 / FEASIBILITY</a:t>
            </a:r>
          </a:p>
          <a:p>
            <a:pPr>
              <a:spcAft>
                <a:spcPts val="400"/>
              </a:spcAft>
              <a:defRPr sz="2600" b="1">
                <a:solidFill>
                  <a:srgbClr val="0F172A"/>
                </a:solidFill>
                <a:latin typeface="Segoe UI"/>
              </a:defRPr>
            </a:pPr>
            <a:r>
              <a:t>Operational Viability in the Indian Context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Designed specifically for state and national disaster management authorities (NDMA, SDRF, NDRF).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29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6A34A"/>
                </a:solidFill>
                <a:latin typeface="Segoe UI"/>
              </a:defRPr>
            </a:pPr>
            <a:r>
              <a:t>Zero Recurring API Costs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Does not depend on paid cloud LLMs (OpenAI, Anthropic). All NLP and scoring run locally on the edge device in under 5ms without token fees or recurring charges.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429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  <a:latin typeface="Segoe UI"/>
              </a:defRPr>
            </a:pPr>
            <a:r>
              <a:t>Runs on Modest Hardware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Optimized for standard ₹15,000–₹20,000 Android tablets and government-issued field laptops. Small bundle footprint ensures rapid loading even over 2G/3G.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201168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D97706"/>
                </a:solidFill>
                <a:latin typeface="Segoe UI"/>
              </a:defRPr>
            </a:pPr>
            <a:r>
              <a:t>Standard SitRep Compliance</a:t>
            </a:r>
          </a:p>
          <a:p>
            <a:pPr>
              <a:defRPr sz="1300">
                <a:solidFill>
                  <a:srgbClr val="334155"/>
                </a:solidFill>
                <a:latin typeface="Segoe UI"/>
              </a:defRPr>
            </a:pPr>
            <a:r>
              <a:t>Generates structured situation reports matching standard NDMA Incident Command System (ICS) formats, ready for immediate district magistrate briefings.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D97706"/>
                </a:solidFill>
                <a:latin typeface="Segoe UI"/>
              </a:defRPr>
            </a:pPr>
            <a:r>
              <a:t>CONCLUSION &amp; IMPACT</a:t>
            </a:r>
          </a:p>
          <a:p>
            <a:pPr>
              <a:spcAft>
                <a:spcPts val="1200"/>
              </a:spcAft>
              <a:defRPr sz="4000" b="1">
                <a:solidFill>
                  <a:srgbClr val="0F172A"/>
                </a:solidFill>
                <a:latin typeface="Segoe UI"/>
              </a:defRPr>
            </a:pPr>
            <a:r>
              <a:t>RescueGrid</a:t>
            </a:r>
          </a:p>
          <a:p>
            <a:pPr>
              <a:spcAft>
                <a:spcPts val="26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A dependable, explainable, and offline-first decision system that helps emergency responders save lives during the first 72 hours.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Explainable AI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Every priority score is transparent; no hallucinated coordinates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474720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356616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100% Offline-Ready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Full local IndexedDB database and SVG vector map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79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Human Authority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Commanders can override scores with mandatory audit logging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4754879"/>
            <a:ext cx="502920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4846320"/>
            <a:ext cx="4663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✓ Fully Tested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17 automated test suites verified and passing cleanly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29200"/>
            <a:ext cx="1024128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516636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Segoe UI"/>
              </a:defRPr>
            </a:pPr>
            <a:r>
              <a:t>Live Working Prototype: http://127.0.0.1:8000  •  Download PPTX: http://127.0.0.1:8000/api/download/pptx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RescueGrid  •  Disaster Search &amp; Rescue Intelligence                                           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